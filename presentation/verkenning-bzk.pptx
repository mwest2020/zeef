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Ik ben van Conduction. Zeef doet een ding: van duizend documenten terug naar de honderd die er werkelijk toe doen — en bij elk document kun je terugzien waarom het gekozen is. Open source, EUPL-1.2. Wat u vandaag ziet draait volledig op een eigen machine: niets verlaat het pand. In zeven minuten, inclusief uw vragen: hoe het werkt, lokaal versus cloud, uw uitvraag-punten, de aanpak, en twee echte outputs — geen plaatjes.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rode draad: eerst begrijpen wat er ligt, dan kiezen wat telt — dat zijn twee verschillende dingen. En: "binnen de vraag vallen" is iets anders dan "tot de belangrijkste honderd horen". Dat onderscheid komt steeds terug. Twee slides tonen echt gegenereerde output, geen plaatjes.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de kern. Het Woo-proces vraagt twee verschillende dingen. Een: begrijpen wat er in de berg zit — zonder zoekvraag, je kijkt breed en vat samen tot een overzicht van onderwerpen. Twee: kiezen wat relevant is voor de concrete vraag — je begint bij alle kandidaten en houdt de belangrijkste honderd over. De fout die je niet wilt maken: een groot onderwerp aanzien voor het belangrijkste, of "binnen de vraag" verwarren met "in de kern". Twee stappen, nooit door elkaar.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Twee punten. Een, lokaal versus cloud: cloud gebruikt een krachtiger taalmodel, maar de documenten verlaten dan het pand. En op grotere schaal liep het cloud-pad twee keer vast op netwerk-wachttijd in de ophaal-stap, ook nadat we de last per document verlaagden. De lokale variant liep wel door — lokaal bleek dus niet alleen veiliger maar ook robuuster. Er is vandaag dus geen cloud-selectie als resultaat; we tonen de lokale. Twee, hoe zeker de keuze is: we lieten drie manieren los om relevantie te bepalen — een taalmodel dat op betekenis kijkt, een klassieke methode die op woorden matcht, en een hele eenvoudige ondergrens. Ze zijn het over drieendertig documenten eens; dat is de kern waar we het zekerst van zijn. Welke manier beter is kunnen we hier niet hard maken — voor dit dossier is er geen objectieve maatstaf om tegen af te meten.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Drie kernpunten op de slide: open source onder EUPL-1.2 — vrij te gebruiken en te controleren; lokaal en soeverein — de documenten blijven in huis; en transparant — elke beslissing wordt vastgelegd en is terug te halen. De rest heb ik klaar als u ernaar vraagt: we trainen niet op uw documenten; het gaat om reeds-openbaar te maken materiaal, dus AVG is geen beletsel, met een DPIA-pad; Zeef koppelt aan bestaande systemen zoals M365, DMS en zaaksystemen; en er is geen licentie per verzoek — open source plus eigen hardware. Schaal: vandaag is dit een verkenning, opschalen is het pad.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Drie stappen. Een, opruimen: inlezen met een vaste vingerafdruk per document zodat dubbelingen meteen samenvallen, en documenten die buiten de vraag vallen eruit — doorstuurmails, agendaverzoeken, dubbelingen, procesmeldingen. Dat is een spelregel, geen oordeel over belang. Twee, kiezen: wat overblijft zetten we op volgorde van belang voor de concrete vraag en houden de ongeveer honderd belangrijkste over. Drie, landkaart: los daarvan kan Zeef een overzicht van alle onderwerpen maken, ook zonder zoekvraag. De trechter: duizend ingelezen, op leesbaarheid valt niets af, honderdtwaalf vallen buiten de vraag — allemaal dubbelingen — en honderd gekozen. Waar je precies afkapt is een keuze; het verschil rond de grens is klein, dus die honderd is een keuze, geen natuurwet.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geen plaatje. Dit is het rapport dat de tool zelf maakt: de gekozen honderd, bij elk document waarom het gekozen is, hoe documenten samenhangen, en wat eruit viel en waarom. U kunt erin navigeren. Als het op de beamer hapert, open ik het in een nieuw tabblad — de link staat rechtsonder. Dit is de lokale run op het BZK-dossier. Een eerlijke nuance: het rapport toont er 86 als basis; de geleverde set is honderd, uit precies dezelfde volgorde, alleen op honderd doorgesneden.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Buiten de vraag betekent niet onbelangrijk — het betekent: valt buiten de spelregels van dit verzoek. De redenen zijn expliciet: doorstuurmails, agendaverzoeken, dubbelingen, procesmeldingen, eerdere mails in een thread. Elke uitsluiting krijgt een reden mee en is terug te halen. En als de zoekvraag nog onbekend is, maakt Zeef eerst een overzicht van alle onderwerpen in het dossier. Ook hier een echte output, met een link rechtsonder: dat overzicht over ditzelfde BZK-dossier, met hetzelfde lokale model als de selectie.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Samengevat: Zeef brengt u van duizend documenten terug naar de honderd die ertoe doen, en bij elke stap kunt u terugzien waarom. Lokaal waar het moet, elke beslissing terug te halen. Open source, EUPL-1.2. Het sluit aan op uw bestaande systemen — DMS en zaaksystemen — en in de lokale variant op Nextcloud en OpenAnonymiser voor de AVG-voorbewerking. Wat u vandaag zag is een verkenning; opschalen is het pad. Dank — ik beantwoord graag uw vragen. Contact: mark apenstaartje conduction punt nl.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97702" y="777240"/>
            <a:ext cx="796289" cy="868680"/>
          </a:xfrm>
          <a:prstGeom prst="rect">
            <a:avLst/>
          </a:prstGeom>
        </p:spPr>
      </p:pic>
      <p:sp>
        <p:nvSpPr>
          <p:cNvPr id="3" name="TextBox 2"/>
          <p:cNvSpPr txBox="1"/>
          <p:nvPr/>
        </p:nvSpPr>
        <p:spPr>
          <a:xfrm>
            <a:off x="914400" y="1783080"/>
            <a:ext cx="10362895" cy="365760"/>
          </a:xfrm>
          <a:prstGeom prst="rect">
            <a:avLst/>
          </a:prstGeom>
          <a:noFill/>
        </p:spPr>
        <p:txBody>
          <a:bodyPr wrap="square" anchor="t" lIns="0" rIns="0" tIns="0" bIns="0">
            <a:spAutoFit/>
          </a:bodyPr>
          <a:lstStyle/>
          <a:p>
            <a:pPr algn="ctr">
              <a:spcBef>
                <a:spcPts val="0"/>
              </a:spcBef>
              <a:spcAft>
                <a:spcPts val="0"/>
              </a:spcAft>
            </a:pPr>
            <a:r>
              <a:rPr sz="1100" b="1" i="0">
                <a:solidFill>
                  <a:srgbClr val="71717A"/>
                </a:solidFill>
                <a:latin typeface="Calibri"/>
              </a:rPr>
              <a:t>TECHNISCHE VERKENNING AI-TOOLS WOO-PROCES · BZK / ECP · GOVTECHNL</a:t>
            </a:r>
          </a:p>
        </p:txBody>
      </p:sp>
      <p:sp>
        <p:nvSpPr>
          <p:cNvPr id="4" name="TextBox 3"/>
          <p:cNvSpPr txBox="1"/>
          <p:nvPr/>
        </p:nvSpPr>
        <p:spPr>
          <a:xfrm>
            <a:off x="914400" y="2194560"/>
            <a:ext cx="10362895" cy="1005840"/>
          </a:xfrm>
          <a:prstGeom prst="rect">
            <a:avLst/>
          </a:prstGeom>
          <a:noFill/>
        </p:spPr>
        <p:txBody>
          <a:bodyPr wrap="square" anchor="t" lIns="0" rIns="0" tIns="0" bIns="0">
            <a:spAutoFit/>
          </a:bodyPr>
          <a:lstStyle/>
          <a:p>
            <a:pPr algn="ctr">
              <a:spcBef>
                <a:spcPts val="0"/>
              </a:spcBef>
              <a:spcAft>
                <a:spcPts val="0"/>
              </a:spcAft>
            </a:pPr>
            <a:r>
              <a:rPr sz="6000" b="1" i="0">
                <a:solidFill>
                  <a:srgbClr val="1A1A1A"/>
                </a:solidFill>
                <a:latin typeface="Calibri"/>
              </a:rPr>
              <a:t>Zeef</a:t>
            </a:r>
          </a:p>
        </p:txBody>
      </p:sp>
      <p:sp>
        <p:nvSpPr>
          <p:cNvPr id="5" name="TextBox 4"/>
          <p:cNvSpPr txBox="1"/>
          <p:nvPr/>
        </p:nvSpPr>
        <p:spPr>
          <a:xfrm>
            <a:off x="914400" y="3337560"/>
            <a:ext cx="10362895" cy="548640"/>
          </a:xfrm>
          <a:prstGeom prst="rect">
            <a:avLst/>
          </a:prstGeom>
          <a:noFill/>
        </p:spPr>
        <p:txBody>
          <a:bodyPr wrap="square" anchor="t" lIns="0" rIns="0" tIns="0" bIns="0">
            <a:spAutoFit/>
          </a:bodyPr>
          <a:lstStyle/>
          <a:p>
            <a:pPr algn="ctr">
              <a:spcBef>
                <a:spcPts val="0"/>
              </a:spcBef>
              <a:spcAft>
                <a:spcPts val="0"/>
              </a:spcAft>
            </a:pPr>
            <a:r>
              <a:rPr sz="1800" b="1" i="0">
                <a:solidFill>
                  <a:srgbClr val="4376FC"/>
                </a:solidFill>
                <a:latin typeface="Calibri"/>
              </a:rPr>
              <a:t>Van duizend documenten naar de honderd die ertoe doen — lokaal en navolgbaar</a:t>
            </a:r>
          </a:p>
        </p:txBody>
      </p:sp>
      <p:sp>
        <p:nvSpPr>
          <p:cNvPr id="6" name="TextBox 5"/>
          <p:cNvSpPr txBox="1"/>
          <p:nvPr/>
        </p:nvSpPr>
        <p:spPr>
          <a:xfrm>
            <a:off x="914400" y="4069080"/>
            <a:ext cx="10362895" cy="822960"/>
          </a:xfrm>
          <a:prstGeom prst="rect">
            <a:avLst/>
          </a:prstGeom>
          <a:noFill/>
        </p:spPr>
        <p:txBody>
          <a:bodyPr wrap="square" anchor="t" lIns="0" rIns="0" tIns="0" bIns="0">
            <a:spAutoFit/>
          </a:bodyPr>
          <a:lstStyle/>
          <a:p>
            <a:pPr algn="ctr">
              <a:lnSpc>
                <a:spcPct val="150000"/>
              </a:lnSpc>
              <a:spcBef>
                <a:spcPts val="0"/>
              </a:spcBef>
              <a:spcAft>
                <a:spcPts val="0"/>
              </a:spcAft>
            </a:pPr>
            <a:r>
              <a:rPr sz="1200" b="1" i="0">
                <a:solidFill>
                  <a:srgbClr val="1A1A1A"/>
                </a:solidFill>
                <a:latin typeface="Calibri"/>
              </a:rPr>
              <a:t>Aanbieder: </a:t>
            </a:r>
            <a:r>
              <a:rPr sz="1200" b="0" i="0">
                <a:solidFill>
                  <a:srgbClr val="71717A"/>
                </a:solidFill>
                <a:latin typeface="Calibri"/>
              </a:rPr>
              <a:t>Conduction    ·    </a:t>
            </a:r>
            <a:r>
              <a:rPr sz="1200" b="1" i="0">
                <a:solidFill>
                  <a:srgbClr val="1A1A1A"/>
                </a:solidFill>
                <a:latin typeface="Calibri"/>
              </a:rPr>
              <a:t>Licentie: </a:t>
            </a:r>
            <a:r>
              <a:rPr sz="1200" b="0" i="0">
                <a:solidFill>
                  <a:srgbClr val="71717A"/>
                </a:solidFill>
                <a:latin typeface="Calibri"/>
              </a:rPr>
              <a:t>EUPL-1.2</a:t>
            </a:r>
          </a:p>
          <a:p>
            <a:pPr algn="ctr">
              <a:spcBef>
                <a:spcPts val="0"/>
              </a:spcBef>
              <a:spcAft>
                <a:spcPts val="0"/>
              </a:spcAft>
            </a:pPr>
            <a:r>
              <a:rPr sz="1200" b="0" i="0">
                <a:solidFill>
                  <a:srgbClr val="71717A"/>
                </a:solidFill>
                <a:latin typeface="Calibri"/>
              </a:rPr>
              <a:t>26 juni 2026</a:t>
            </a:r>
          </a:p>
        </p:txBody>
      </p:sp>
      <p:sp>
        <p:nvSpPr>
          <p:cNvPr id="7" name="Rounded Rectangle 6"/>
          <p:cNvSpPr/>
          <p:nvPr/>
        </p:nvSpPr>
        <p:spPr>
          <a:xfrm>
            <a:off x="4024731" y="5212080"/>
            <a:ext cx="971092" cy="310896"/>
          </a:xfrm>
          <a:prstGeom prst="roundRect">
            <a:avLst>
              <a:gd name="adj" fmla="val 50000"/>
            </a:avLst>
          </a:prstGeom>
          <a:solidFill>
            <a:srgbClr val="FFFFFF"/>
          </a:solidFill>
          <a:ln w="9525">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Open source</a:t>
            </a:r>
          </a:p>
        </p:txBody>
      </p:sp>
      <p:sp>
        <p:nvSpPr>
          <p:cNvPr id="8" name="Rounded Rectangle 7"/>
          <p:cNvSpPr/>
          <p:nvPr/>
        </p:nvSpPr>
        <p:spPr>
          <a:xfrm>
            <a:off x="5160416" y="5212080"/>
            <a:ext cx="1345996" cy="310896"/>
          </a:xfrm>
          <a:prstGeom prst="roundRect">
            <a:avLst>
              <a:gd name="adj" fmla="val 50000"/>
            </a:avLst>
          </a:prstGeom>
          <a:solidFill>
            <a:srgbClr val="FFFFFF"/>
          </a:solidFill>
          <a:ln w="9525">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Volledig offline</a:t>
            </a:r>
          </a:p>
        </p:txBody>
      </p:sp>
      <p:sp>
        <p:nvSpPr>
          <p:cNvPr id="9" name="Rounded Rectangle 8"/>
          <p:cNvSpPr/>
          <p:nvPr/>
        </p:nvSpPr>
        <p:spPr>
          <a:xfrm>
            <a:off x="6671005" y="5212080"/>
            <a:ext cx="1495958" cy="310896"/>
          </a:xfrm>
          <a:prstGeom prst="roundRect">
            <a:avLst>
              <a:gd name="adj" fmla="val 50000"/>
            </a:avLst>
          </a:prstGeom>
          <a:solidFill>
            <a:srgbClr val="FFFFFF"/>
          </a:solidFill>
          <a:ln w="9525">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Boring &amp; auditable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64240" cy="365760"/>
          </a:xfrm>
          <a:prstGeom prst="rect">
            <a:avLst/>
          </a:prstGeom>
          <a:noFill/>
        </p:spPr>
        <p:txBody>
          <a:bodyPr wrap="square" anchor="t" lIns="0" rIns="0" tIns="0" bIns="0">
            <a:spAutoFit/>
          </a:bodyPr>
          <a:lstStyle/>
          <a:p>
            <a:pPr algn="l">
              <a:spcBef>
                <a:spcPts val="0"/>
              </a:spcBef>
              <a:spcAft>
                <a:spcPts val="0"/>
              </a:spcAft>
            </a:pPr>
            <a:r>
              <a:rPr sz="1100" b="1" i="0">
                <a:solidFill>
                  <a:srgbClr val="71717A"/>
                </a:solidFill>
                <a:latin typeface="Calibri"/>
              </a:rPr>
              <a:t>AGENDA</a:t>
            </a:r>
          </a:p>
        </p:txBody>
      </p:sp>
      <p:sp>
        <p:nvSpPr>
          <p:cNvPr id="3" name="TextBox 2"/>
          <p:cNvSpPr txBox="1"/>
          <p:nvPr/>
        </p:nvSpPr>
        <p:spPr>
          <a:xfrm>
            <a:off x="566928" y="1371600"/>
            <a:ext cx="11064240" cy="640080"/>
          </a:xfrm>
          <a:prstGeom prst="rect">
            <a:avLst/>
          </a:prstGeom>
          <a:noFill/>
        </p:spPr>
        <p:txBody>
          <a:bodyPr wrap="square" anchor="t" lIns="0" rIns="0" tIns="0" bIns="0">
            <a:spAutoFit/>
          </a:bodyPr>
          <a:lstStyle/>
          <a:p>
            <a:pPr algn="l">
              <a:spcBef>
                <a:spcPts val="0"/>
              </a:spcBef>
              <a:spcAft>
                <a:spcPts val="0"/>
              </a:spcAft>
            </a:pPr>
            <a:r>
              <a:rPr sz="3000" b="1" i="0">
                <a:solidFill>
                  <a:srgbClr val="1A1A1A"/>
                </a:solidFill>
                <a:latin typeface="Calibri"/>
              </a:rPr>
              <a:t>Wat u in 7 minuten ziet</a:t>
            </a:r>
          </a:p>
        </p:txBody>
      </p:sp>
      <p:sp>
        <p:nvSpPr>
          <p:cNvPr id="4" name="TextBox 3"/>
          <p:cNvSpPr txBox="1"/>
          <p:nvPr/>
        </p:nvSpPr>
        <p:spPr>
          <a:xfrm>
            <a:off x="566928" y="2468880"/>
            <a:ext cx="8686800" cy="1828800"/>
          </a:xfrm>
          <a:prstGeom prst="rect">
            <a:avLst/>
          </a:prstGeom>
          <a:noFill/>
        </p:spPr>
        <p:txBody>
          <a:bodyPr wrap="square" anchor="t" lIns="0" rIns="0" tIns="0" bIns="0">
            <a:spAutoFit/>
          </a:bodyPr>
          <a:lstStyle/>
          <a:p>
            <a:pPr algn="l">
              <a:lnSpc>
                <a:spcPct val="150000"/>
              </a:lnSpc>
              <a:spcBef>
                <a:spcPts val="0"/>
              </a:spcBef>
              <a:spcAft>
                <a:spcPts val="0"/>
              </a:spcAft>
            </a:pPr>
            <a:r>
              <a:rPr sz="1900" b="0" i="0">
                <a:solidFill>
                  <a:srgbClr val="3F3F46"/>
                </a:solidFill>
                <a:latin typeface="Calibri"/>
              </a:rPr>
              <a:t>Hoe Zeef werkt · lokaal versus cloud · uitvraag-punten · de aanpak in het kort · twee echte outputs. Daarna vragenrondje.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64240" cy="365760"/>
          </a:xfrm>
          <a:prstGeom prst="rect">
            <a:avLst/>
          </a:prstGeom>
          <a:noFill/>
        </p:spPr>
        <p:txBody>
          <a:bodyPr wrap="square" anchor="t" lIns="0" rIns="0" tIns="0" bIns="0">
            <a:spAutoFit/>
          </a:bodyPr>
          <a:lstStyle/>
          <a:p>
            <a:pPr algn="l">
              <a:spcBef>
                <a:spcPts val="0"/>
              </a:spcBef>
              <a:spcAft>
                <a:spcPts val="0"/>
              </a:spcAft>
            </a:pPr>
            <a:r>
              <a:rPr sz="1100" b="1" i="0">
                <a:solidFill>
                  <a:srgbClr val="71717A"/>
                </a:solidFill>
                <a:latin typeface="Calibri"/>
              </a:rPr>
              <a:t>WERKWIJZE · EERST BEGRIJPEN, DAN KIEZEN</a:t>
            </a:r>
          </a:p>
        </p:txBody>
      </p:sp>
      <p:sp>
        <p:nvSpPr>
          <p:cNvPr id="3" name="Rectangle 2"/>
          <p:cNvSpPr/>
          <p:nvPr/>
        </p:nvSpPr>
        <p:spPr>
          <a:xfrm>
            <a:off x="566928" y="914400"/>
            <a:ext cx="54864" cy="502920"/>
          </a:xfrm>
          <a:prstGeom prst="rect">
            <a:avLst/>
          </a:prstGeom>
          <a:solidFill>
            <a:srgbClr val="437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914400"/>
            <a:ext cx="10058400" cy="548640"/>
          </a:xfrm>
          <a:prstGeom prst="rect">
            <a:avLst/>
          </a:prstGeom>
          <a:noFill/>
        </p:spPr>
        <p:txBody>
          <a:bodyPr wrap="square" anchor="t" lIns="0" rIns="0" tIns="0" bIns="0">
            <a:spAutoFit/>
          </a:bodyPr>
          <a:lstStyle/>
          <a:p>
            <a:pPr algn="l">
              <a:spcBef>
                <a:spcPts val="0"/>
              </a:spcBef>
              <a:spcAft>
                <a:spcPts val="0"/>
              </a:spcAft>
            </a:pPr>
            <a:r>
              <a:rPr sz="2400" b="1" i="0">
                <a:solidFill>
                  <a:srgbClr val="1A1A1A"/>
                </a:solidFill>
                <a:latin typeface="Calibri"/>
              </a:rPr>
              <a:t>Begrijpen is niet kiezen.</a:t>
            </a:r>
          </a:p>
        </p:txBody>
      </p:sp>
      <p:pic>
        <p:nvPicPr>
          <p:cNvPr id="5" name="Picture 4" descr="diamond.png"/>
          <p:cNvPicPr>
            <a:picLocks noChangeAspect="1"/>
          </p:cNvPicPr>
          <p:nvPr/>
        </p:nvPicPr>
        <p:blipFill>
          <a:blip r:embed="rId2"/>
          <a:stretch>
            <a:fillRect/>
          </a:stretch>
        </p:blipFill>
        <p:spPr>
          <a:xfrm>
            <a:off x="566928" y="1828800"/>
            <a:ext cx="11064240" cy="2305050"/>
          </a:xfrm>
          <a:prstGeom prst="rect">
            <a:avLst/>
          </a:prstGeom>
        </p:spPr>
      </p:pic>
      <p:sp>
        <p:nvSpPr>
          <p:cNvPr id="6" name="TextBox 5"/>
          <p:cNvSpPr txBox="1"/>
          <p:nvPr/>
        </p:nvSpPr>
        <p:spPr>
          <a:xfrm>
            <a:off x="566928" y="5120640"/>
            <a:ext cx="11064240" cy="1188720"/>
          </a:xfrm>
          <a:prstGeom prst="rect">
            <a:avLst/>
          </a:prstGeom>
          <a:noFill/>
        </p:spPr>
        <p:txBody>
          <a:bodyPr wrap="square" anchor="t" lIns="0" rIns="0" tIns="0" bIns="0">
            <a:spAutoFit/>
          </a:bodyPr>
          <a:lstStyle/>
          <a:p>
            <a:pPr algn="l">
              <a:lnSpc>
                <a:spcPct val="145000"/>
              </a:lnSpc>
              <a:spcBef>
                <a:spcPts val="0"/>
              </a:spcBef>
              <a:spcAft>
                <a:spcPts val="0"/>
              </a:spcAft>
            </a:pPr>
            <a:r>
              <a:rPr sz="1600" b="0" i="0">
                <a:solidFill>
                  <a:srgbClr val="3F3F46"/>
                </a:solidFill>
                <a:latin typeface="Calibri"/>
              </a:rPr>
              <a:t>Twee aparte stappen. </a:t>
            </a:r>
            <a:r>
              <a:rPr sz="1600" b="1" i="0">
                <a:solidFill>
                  <a:srgbClr val="1A1A1A"/>
                </a:solidFill>
                <a:latin typeface="Calibri"/>
              </a:rPr>
              <a:t>Begrijpen</a:t>
            </a:r>
            <a:r>
              <a:rPr sz="1600" b="0" i="0">
                <a:solidFill>
                  <a:srgbClr val="3F3F46"/>
                </a:solidFill>
                <a:latin typeface="Calibri"/>
              </a:rPr>
              <a:t> brengt in kaart wat er ligt; </a:t>
            </a:r>
            <a:r>
              <a:rPr sz="1600" b="1" i="0">
                <a:solidFill>
                  <a:srgbClr val="1A1A1A"/>
                </a:solidFill>
                <a:latin typeface="Calibri"/>
              </a:rPr>
              <a:t>kiezen</a:t>
            </a:r>
            <a:r>
              <a:rPr sz="1600" b="0" i="0">
                <a:solidFill>
                  <a:srgbClr val="3F3F46"/>
                </a:solidFill>
                <a:latin typeface="Calibri"/>
              </a:rPr>
              <a:t> zet de documenten op volgorde van belang voor de concrete vraag.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64240" cy="365760"/>
          </a:xfrm>
          <a:prstGeom prst="rect">
            <a:avLst/>
          </a:prstGeom>
          <a:noFill/>
        </p:spPr>
        <p:txBody>
          <a:bodyPr wrap="square" anchor="t" lIns="0" rIns="0" tIns="0" bIns="0">
            <a:spAutoFit/>
          </a:bodyPr>
          <a:lstStyle/>
          <a:p>
            <a:pPr algn="l">
              <a:spcBef>
                <a:spcPts val="0"/>
              </a:spcBef>
              <a:spcAft>
                <a:spcPts val="0"/>
              </a:spcAft>
            </a:pPr>
            <a:r>
              <a:rPr sz="1100" b="1" i="0">
                <a:solidFill>
                  <a:srgbClr val="71717A"/>
                </a:solidFill>
                <a:latin typeface="Calibri"/>
              </a:rPr>
              <a:t>LOKAAL VS CLOUD · EN HOE ZEKER DE KEUZE IS</a:t>
            </a:r>
          </a:p>
        </p:txBody>
      </p:sp>
      <p:sp>
        <p:nvSpPr>
          <p:cNvPr id="3" name="TextBox 2"/>
          <p:cNvSpPr txBox="1"/>
          <p:nvPr/>
        </p:nvSpPr>
        <p:spPr>
          <a:xfrm>
            <a:off x="566928" y="868680"/>
            <a:ext cx="11064240" cy="640080"/>
          </a:xfrm>
          <a:prstGeom prst="rect">
            <a:avLst/>
          </a:prstGeom>
          <a:noFill/>
        </p:spPr>
        <p:txBody>
          <a:bodyPr wrap="square" anchor="t" lIns="0" rIns="0" tIns="0" bIns="0">
            <a:spAutoFit/>
          </a:bodyPr>
          <a:lstStyle/>
          <a:p>
            <a:pPr algn="l">
              <a:spcBef>
                <a:spcPts val="0"/>
              </a:spcBef>
              <a:spcAft>
                <a:spcPts val="0"/>
              </a:spcAft>
            </a:pPr>
            <a:r>
              <a:rPr sz="2400" b="1" i="0">
                <a:solidFill>
                  <a:srgbClr val="1A1A1A"/>
                </a:solidFill>
                <a:latin typeface="Calibri"/>
              </a:rPr>
              <a:t>Lokaal werkt — en bleek robuuster dan cloud.</a:t>
            </a:r>
          </a:p>
        </p:txBody>
      </p:sp>
      <p:sp>
        <p:nvSpPr>
          <p:cNvPr id="4" name="Rounded Rectangle 3"/>
          <p:cNvSpPr/>
          <p:nvPr/>
        </p:nvSpPr>
        <p:spPr>
          <a:xfrm>
            <a:off x="566928" y="1554480"/>
            <a:ext cx="3246120" cy="1143000"/>
          </a:xfrm>
          <a:prstGeom prst="roundRect">
            <a:avLst>
              <a:gd name="adj" fmla="val 6000"/>
            </a:avLst>
          </a:prstGeom>
          <a:solidFill>
            <a:srgbClr val="E9EEFE"/>
          </a:solidFill>
          <a:ln w="12700">
            <a:solidFill>
              <a:srgbClr val="4376FC"/>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lstStyle/>
          <a:p>
            <a:pPr algn="l">
              <a:spcBef>
                <a:spcPts val="0"/>
              </a:spcBef>
              <a:spcAft>
                <a:spcPts val="400"/>
              </a:spcAft>
            </a:pPr>
            <a:r>
              <a:rPr sz="1400" b="1" i="0">
                <a:solidFill>
                  <a:srgbClr val="1A1A1A"/>
                </a:solidFill>
                <a:latin typeface="Calibri"/>
              </a:rPr>
              <a:t>Lokaal  (vandaag getoond)</a:t>
            </a:r>
          </a:p>
          <a:p>
            <a:pPr algn="l">
              <a:lnSpc>
                <a:spcPct val="115000"/>
              </a:lnSpc>
              <a:spcBef>
                <a:spcPts val="0"/>
              </a:spcBef>
              <a:spcAft>
                <a:spcPts val="0"/>
              </a:spcAft>
            </a:pPr>
            <a:r>
              <a:rPr sz="1250" b="0" i="0">
                <a:solidFill>
                  <a:srgbClr val="3F3F46"/>
                </a:solidFill>
                <a:latin typeface="Calibri"/>
              </a:rPr>
              <a:t>Draait op een eigen machine. Niets verlaat het pand.</a:t>
            </a:r>
          </a:p>
        </p:txBody>
      </p:sp>
      <p:sp>
        <p:nvSpPr>
          <p:cNvPr id="5" name="Rounded Rectangle 4"/>
          <p:cNvSpPr/>
          <p:nvPr/>
        </p:nvSpPr>
        <p:spPr>
          <a:xfrm>
            <a:off x="3977639" y="1554480"/>
            <a:ext cx="3246120" cy="1143000"/>
          </a:xfrm>
          <a:prstGeom prst="roundRect">
            <a:avLst>
              <a:gd name="adj" fmla="val 6000"/>
            </a:avLst>
          </a:prstGeom>
          <a:solidFill>
            <a:srgbClr val="FFFFFF"/>
          </a:solidFill>
          <a:ln w="12700">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lstStyle/>
          <a:p>
            <a:pPr algn="l">
              <a:spcBef>
                <a:spcPts val="0"/>
              </a:spcBef>
              <a:spcAft>
                <a:spcPts val="400"/>
              </a:spcAft>
            </a:pPr>
            <a:r>
              <a:rPr sz="1400" b="1" i="0">
                <a:solidFill>
                  <a:srgbClr val="1A1A1A"/>
                </a:solidFill>
                <a:latin typeface="Calibri"/>
              </a:rPr>
              <a:t>Cloud</a:t>
            </a:r>
          </a:p>
          <a:p>
            <a:pPr algn="l">
              <a:lnSpc>
                <a:spcPct val="115000"/>
              </a:lnSpc>
              <a:spcBef>
                <a:spcPts val="0"/>
              </a:spcBef>
              <a:spcAft>
                <a:spcPts val="0"/>
              </a:spcAft>
            </a:pPr>
            <a:r>
              <a:rPr sz="1250" b="0" i="0">
                <a:solidFill>
                  <a:srgbClr val="3F3F46"/>
                </a:solidFill>
                <a:latin typeface="Calibri"/>
              </a:rPr>
              <a:t>Een krachtiger taalmodel, maar de documenten verlaten het pand.</a:t>
            </a:r>
          </a:p>
        </p:txBody>
      </p:sp>
      <p:sp>
        <p:nvSpPr>
          <p:cNvPr id="6" name="TextBox 5"/>
          <p:cNvSpPr txBox="1"/>
          <p:nvPr/>
        </p:nvSpPr>
        <p:spPr>
          <a:xfrm>
            <a:off x="566928" y="2880360"/>
            <a:ext cx="6675120" cy="3383280"/>
          </a:xfrm>
          <a:prstGeom prst="rect">
            <a:avLst/>
          </a:prstGeom>
          <a:noFill/>
        </p:spPr>
        <p:txBody>
          <a:bodyPr wrap="square" anchor="t" lIns="0" rIns="0" tIns="0" bIns="0">
            <a:spAutoFit/>
          </a:bodyPr>
          <a:lstStyle/>
          <a:p>
            <a:pPr algn="l">
              <a:lnSpc>
                <a:spcPct val="140000"/>
              </a:lnSpc>
              <a:spcBef>
                <a:spcPts val="0"/>
              </a:spcBef>
              <a:spcAft>
                <a:spcPts val="800"/>
              </a:spcAft>
            </a:pPr>
            <a:r>
              <a:rPr sz="1400" b="0" i="0">
                <a:solidFill>
                  <a:srgbClr val="3F3F46"/>
                </a:solidFill>
                <a:latin typeface="Calibri"/>
              </a:rPr>
              <a:t>Op grotere schaal liep het cloud-pad vast op netwerk-wachttijd, ook nadat we de last per document verlaagden. De lokale variant niet — </a:t>
            </a:r>
            <a:r>
              <a:rPr sz="1400" b="1" i="0">
                <a:solidFill>
                  <a:srgbClr val="1A1A1A"/>
                </a:solidFill>
                <a:latin typeface="Calibri"/>
              </a:rPr>
              <a:t>lokaal bleek ook robuuster</a:t>
            </a:r>
            <a:r>
              <a:rPr sz="1400" b="0" i="0">
                <a:solidFill>
                  <a:srgbClr val="3F3F46"/>
                </a:solidFill>
                <a:latin typeface="Calibri"/>
              </a:rPr>
              <a:t>. We tonen vandaag de lokale selectie.</a:t>
            </a:r>
          </a:p>
          <a:p>
            <a:pPr algn="l">
              <a:lnSpc>
                <a:spcPct val="140000"/>
              </a:lnSpc>
              <a:spcBef>
                <a:spcPts val="0"/>
              </a:spcBef>
              <a:spcAft>
                <a:spcPts val="800"/>
              </a:spcAft>
            </a:pPr>
            <a:r>
              <a:rPr sz="1400" b="0" i="0">
                <a:solidFill>
                  <a:srgbClr val="3F3F46"/>
                </a:solidFill>
                <a:latin typeface="Calibri"/>
              </a:rPr>
              <a:t>Drie manieren om te bepalen welke documenten relevant zijn — en hoe vaak ze het eens zijn:</a:t>
            </a:r>
          </a:p>
          <a:p>
            <a:pPr algn="l">
              <a:lnSpc>
                <a:spcPct val="140000"/>
              </a:lnSpc>
              <a:spcBef>
                <a:spcPts val="0"/>
              </a:spcBef>
              <a:spcAft>
                <a:spcPts val="0"/>
              </a:spcAft>
            </a:pPr>
            <a:r>
              <a:rPr sz="1250" b="0" i="0">
                <a:solidFill>
                  <a:srgbClr val="71717A"/>
                </a:solidFill>
                <a:latin typeface="Calibri"/>
              </a:rPr>
              <a:t>De drie manieren zijn het over </a:t>
            </a:r>
            <a:r>
              <a:rPr sz="1250" b="1" i="0">
                <a:solidFill>
                  <a:srgbClr val="1A1A1A"/>
                </a:solidFill>
                <a:latin typeface="Calibri"/>
              </a:rPr>
              <a:t>33 documenten</a:t>
            </a:r>
            <a:r>
              <a:rPr sz="1250" b="0" i="0">
                <a:solidFill>
                  <a:srgbClr val="71717A"/>
                </a:solidFill>
                <a:latin typeface="Calibri"/>
              </a:rPr>
              <a:t> eens — dat is de kern waar we het zekerst van zijn. Welke manier “beter” is, kunnen we hier niet meten: voor dit dossier bestaat geen objectieve maatstaf.</a:t>
            </a:r>
          </a:p>
        </p:txBody>
      </p:sp>
      <p:pic>
        <p:nvPicPr>
          <p:cNvPr id="7" name="Picture 6" descr="venn.png"/>
          <p:cNvPicPr>
            <a:picLocks noChangeAspect="1"/>
          </p:cNvPicPr>
          <p:nvPr/>
        </p:nvPicPr>
        <p:blipFill>
          <a:blip r:embed="rId2"/>
          <a:stretch>
            <a:fillRect/>
          </a:stretch>
        </p:blipFill>
        <p:spPr>
          <a:xfrm>
            <a:off x="7498079" y="1554480"/>
            <a:ext cx="4480560" cy="339655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64240" cy="365760"/>
          </a:xfrm>
          <a:prstGeom prst="rect">
            <a:avLst/>
          </a:prstGeom>
          <a:noFill/>
        </p:spPr>
        <p:txBody>
          <a:bodyPr wrap="square" anchor="t" lIns="0" rIns="0" tIns="0" bIns="0">
            <a:spAutoFit/>
          </a:bodyPr>
          <a:lstStyle/>
          <a:p>
            <a:pPr algn="l">
              <a:spcBef>
                <a:spcPts val="0"/>
              </a:spcBef>
              <a:spcAft>
                <a:spcPts val="0"/>
              </a:spcAft>
            </a:pPr>
            <a:r>
              <a:rPr sz="1100" b="1" i="0">
                <a:solidFill>
                  <a:srgbClr val="71717A"/>
                </a:solidFill>
                <a:latin typeface="Calibri"/>
              </a:rPr>
              <a:t>UW UITVRAAG-PUNTEN · HET BELANGRIJKSTE</a:t>
            </a:r>
          </a:p>
        </p:txBody>
      </p:sp>
      <p:sp>
        <p:nvSpPr>
          <p:cNvPr id="3" name="TextBox 2"/>
          <p:cNvSpPr txBox="1"/>
          <p:nvPr/>
        </p:nvSpPr>
        <p:spPr>
          <a:xfrm>
            <a:off x="566928" y="1280160"/>
            <a:ext cx="11064240" cy="640080"/>
          </a:xfrm>
          <a:prstGeom prst="rect">
            <a:avLst/>
          </a:prstGeom>
          <a:noFill/>
        </p:spPr>
        <p:txBody>
          <a:bodyPr wrap="square" anchor="t" lIns="0" rIns="0" tIns="0" bIns="0">
            <a:spAutoFit/>
          </a:bodyPr>
          <a:lstStyle/>
          <a:p>
            <a:pPr algn="l">
              <a:spcBef>
                <a:spcPts val="0"/>
              </a:spcBef>
              <a:spcAft>
                <a:spcPts val="0"/>
              </a:spcAft>
            </a:pPr>
            <a:r>
              <a:rPr sz="3000" b="1" i="0">
                <a:solidFill>
                  <a:srgbClr val="1A1A1A"/>
                </a:solidFill>
                <a:latin typeface="Calibri"/>
              </a:rPr>
              <a:t>Drie punten die ertoe doen</a:t>
            </a:r>
          </a:p>
        </p:txBody>
      </p:sp>
      <p:graphicFrame>
        <p:nvGraphicFramePr>
          <p:cNvPr id="4" name="Table 3"/>
          <p:cNvGraphicFramePr>
            <a:graphicFrameLocks noGrp="1"/>
          </p:cNvGraphicFramePr>
          <p:nvPr/>
        </p:nvGraphicFramePr>
        <p:xfrm>
          <a:off x="566928" y="2286000"/>
          <a:ext cx="10058400" cy="2194560"/>
        </p:xfrm>
        <a:graphic>
          <a:graphicData uri="http://schemas.openxmlformats.org/drawingml/2006/table">
            <a:tbl>
              <a:tblPr>
                <a:tableStyleId>{5C22544A-7EE6-4342-B048-85BDC9FD1C3A}</a:tableStyleId>
              </a:tblPr>
              <a:tblGrid>
                <a:gridCol w="3017520"/>
                <a:gridCol w="7040880"/>
              </a:tblGrid>
              <a:tr h="731520">
                <a:tc>
                  <a:txBody>
                    <a:bodyPr wrap="square"/>
                    <a:lstStyle/>
                    <a:p>
                      <a:pPr algn="l">
                        <a:spcBef>
                          <a:spcPts val="0"/>
                        </a:spcBef>
                        <a:spcAft>
                          <a:spcPts val="0"/>
                        </a:spcAft>
                      </a:pPr>
                      <a:r>
                        <a:rPr sz="1600" b="1" i="0">
                          <a:solidFill>
                            <a:srgbClr val="1A1A1A"/>
                          </a:solidFill>
                          <a:latin typeface="Calibri"/>
                        </a:rPr>
                        <a:t>Open source</a:t>
                      </a:r>
                    </a:p>
                  </a:txBody>
                  <a:tcPr anchor="ctr" marL="164592" marR="164592" marT="73152" marB="73152">
                    <a:solidFill>
                      <a:srgbClr val="F4F4F5"/>
                    </a:solidFill>
                  </a:tcPr>
                </a:tc>
                <a:tc>
                  <a:txBody>
                    <a:bodyPr wrap="square"/>
                    <a:lstStyle/>
                    <a:p>
                      <a:pPr algn="l">
                        <a:spcBef>
                          <a:spcPts val="0"/>
                        </a:spcBef>
                        <a:spcAft>
                          <a:spcPts val="0"/>
                        </a:spcAft>
                      </a:pPr>
                      <a:r>
                        <a:rPr sz="1600" b="0" i="0">
                          <a:solidFill>
                            <a:srgbClr val="1A1A1A"/>
                          </a:solidFill>
                          <a:latin typeface="Calibri"/>
                        </a:rPr>
                        <a:t>Vrij te gebruiken en te controleren (EUPL-1.2)</a:t>
                      </a:r>
                    </a:p>
                  </a:txBody>
                  <a:tcPr anchor="ctr" marL="164592" marR="164592" marT="73152" marB="73152">
                    <a:solidFill>
                      <a:srgbClr val="FFFFFF"/>
                    </a:solidFill>
                  </a:tcPr>
                </a:tc>
              </a:tr>
              <a:tr h="731520">
                <a:tc>
                  <a:txBody>
                    <a:bodyPr wrap="square"/>
                    <a:lstStyle/>
                    <a:p>
                      <a:pPr algn="l">
                        <a:spcBef>
                          <a:spcPts val="0"/>
                        </a:spcBef>
                        <a:spcAft>
                          <a:spcPts val="0"/>
                        </a:spcAft>
                      </a:pPr>
                      <a:r>
                        <a:rPr sz="1600" b="1" i="0">
                          <a:solidFill>
                            <a:srgbClr val="1A1A1A"/>
                          </a:solidFill>
                          <a:latin typeface="Calibri"/>
                        </a:rPr>
                        <a:t>Lokaal &amp; soeverein</a:t>
                      </a:r>
                    </a:p>
                  </a:txBody>
                  <a:tcPr anchor="ctr" marL="164592" marR="164592" marT="73152" marB="73152">
                    <a:solidFill>
                      <a:srgbClr val="F4F4F5"/>
                    </a:solidFill>
                  </a:tcPr>
                </a:tc>
                <a:tc>
                  <a:txBody>
                    <a:bodyPr wrap="square"/>
                    <a:lstStyle/>
                    <a:p>
                      <a:pPr algn="l">
                        <a:spcBef>
                          <a:spcPts val="0"/>
                        </a:spcBef>
                        <a:spcAft>
                          <a:spcPts val="0"/>
                        </a:spcAft>
                      </a:pPr>
                      <a:r>
                        <a:rPr sz="1600" b="0" i="0">
                          <a:solidFill>
                            <a:srgbClr val="1A1A1A"/>
                          </a:solidFill>
                          <a:latin typeface="Calibri"/>
                        </a:rPr>
                        <a:t>Draait in eigen huis; de documenten verlaten het pand niet</a:t>
                      </a:r>
                    </a:p>
                  </a:txBody>
                  <a:tcPr anchor="ctr" marL="164592" marR="164592" marT="73152" marB="73152">
                    <a:solidFill>
                      <a:srgbClr val="FFFFFF"/>
                    </a:solidFill>
                  </a:tcPr>
                </a:tc>
              </a:tr>
              <a:tr h="731520">
                <a:tc>
                  <a:txBody>
                    <a:bodyPr wrap="square"/>
                    <a:lstStyle/>
                    <a:p>
                      <a:pPr algn="l">
                        <a:spcBef>
                          <a:spcPts val="0"/>
                        </a:spcBef>
                        <a:spcAft>
                          <a:spcPts val="0"/>
                        </a:spcAft>
                      </a:pPr>
                      <a:r>
                        <a:rPr sz="1600" b="1" i="0">
                          <a:solidFill>
                            <a:srgbClr val="1A1A1A"/>
                          </a:solidFill>
                          <a:latin typeface="Calibri"/>
                        </a:rPr>
                        <a:t>Transparant</a:t>
                      </a:r>
                    </a:p>
                  </a:txBody>
                  <a:tcPr anchor="ctr" marL="164592" marR="164592" marT="73152" marB="73152">
                    <a:solidFill>
                      <a:srgbClr val="F4F4F5"/>
                    </a:solidFill>
                  </a:tcPr>
                </a:tc>
                <a:tc>
                  <a:txBody>
                    <a:bodyPr wrap="square"/>
                    <a:lstStyle/>
                    <a:p>
                      <a:pPr algn="l">
                        <a:spcBef>
                          <a:spcPts val="0"/>
                        </a:spcBef>
                        <a:spcAft>
                          <a:spcPts val="0"/>
                        </a:spcAft>
                      </a:pPr>
                      <a:r>
                        <a:rPr sz="1600" b="0" i="0">
                          <a:solidFill>
                            <a:srgbClr val="1A1A1A"/>
                          </a:solidFill>
                          <a:latin typeface="Calibri"/>
                        </a:rPr>
                        <a:t>Elke beslissing wordt vastgelegd en is later terug te halen</a:t>
                      </a:r>
                    </a:p>
                  </a:txBody>
                  <a:tcPr anchor="ctr" marL="164592" marR="164592" marT="73152" marB="73152">
                    <a:solidFill>
                      <a:srgbClr val="FFFFFF"/>
                    </a:solidFill>
                  </a:tcPr>
                </a:tc>
              </a:tr>
            </a:tbl>
          </a:graphicData>
        </a:graphic>
      </p:graphicFrame>
      <p:sp>
        <p:nvSpPr>
          <p:cNvPr id="5" name="TextBox 4"/>
          <p:cNvSpPr txBox="1"/>
          <p:nvPr/>
        </p:nvSpPr>
        <p:spPr>
          <a:xfrm>
            <a:off x="566928" y="4754880"/>
            <a:ext cx="10058400" cy="1097280"/>
          </a:xfrm>
          <a:prstGeom prst="rect">
            <a:avLst/>
          </a:prstGeom>
          <a:noFill/>
        </p:spPr>
        <p:txBody>
          <a:bodyPr wrap="square" anchor="t" lIns="0" rIns="0" tIns="0" bIns="0">
            <a:spAutoFit/>
          </a:bodyPr>
          <a:lstStyle/>
          <a:p>
            <a:pPr algn="l">
              <a:lnSpc>
                <a:spcPct val="145000"/>
              </a:lnSpc>
              <a:spcBef>
                <a:spcPts val="0"/>
              </a:spcBef>
              <a:spcAft>
                <a:spcPts val="0"/>
              </a:spcAft>
            </a:pPr>
            <a:r>
              <a:rPr sz="1250" b="0" i="0">
                <a:solidFill>
                  <a:srgbClr val="71717A"/>
                </a:solidFill>
                <a:latin typeface="Calibri"/>
              </a:rPr>
              <a:t>Verder, kort: geen training op uw documenten · reeds-openbaar dossier (AVG geen beletsel) · koppelbaar aan bestaande systemen · geen kosten per verzoek. Details desgewenst.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64240" cy="365760"/>
          </a:xfrm>
          <a:prstGeom prst="rect">
            <a:avLst/>
          </a:prstGeom>
          <a:noFill/>
        </p:spPr>
        <p:txBody>
          <a:bodyPr wrap="square" anchor="t" lIns="0" rIns="0" tIns="0" bIns="0">
            <a:spAutoFit/>
          </a:bodyPr>
          <a:lstStyle/>
          <a:p>
            <a:pPr algn="l">
              <a:spcBef>
                <a:spcPts val="0"/>
              </a:spcBef>
              <a:spcAft>
                <a:spcPts val="0"/>
              </a:spcAft>
            </a:pPr>
            <a:r>
              <a:rPr sz="1100" b="1" i="0">
                <a:solidFill>
                  <a:srgbClr val="71717A"/>
                </a:solidFill>
                <a:latin typeface="Calibri"/>
              </a:rPr>
              <a:t>DE AANPAK · IN DRIE STAPPEN</a:t>
            </a:r>
          </a:p>
        </p:txBody>
      </p:sp>
      <p:sp>
        <p:nvSpPr>
          <p:cNvPr id="3" name="TextBox 2"/>
          <p:cNvSpPr txBox="1"/>
          <p:nvPr/>
        </p:nvSpPr>
        <p:spPr>
          <a:xfrm>
            <a:off x="566928" y="868680"/>
            <a:ext cx="11064240" cy="640080"/>
          </a:xfrm>
          <a:prstGeom prst="rect">
            <a:avLst/>
          </a:prstGeom>
          <a:noFill/>
        </p:spPr>
        <p:txBody>
          <a:bodyPr wrap="square" anchor="t" lIns="0" rIns="0" tIns="0" bIns="0">
            <a:spAutoFit/>
          </a:bodyPr>
          <a:lstStyle/>
          <a:p>
            <a:pPr algn="l">
              <a:spcBef>
                <a:spcPts val="0"/>
              </a:spcBef>
              <a:spcAft>
                <a:spcPts val="0"/>
              </a:spcAft>
            </a:pPr>
            <a:r>
              <a:rPr sz="2600" b="1" i="0">
                <a:solidFill>
                  <a:srgbClr val="1A1A1A"/>
                </a:solidFill>
                <a:latin typeface="Calibri"/>
              </a:rPr>
              <a:t>Opruimen → kiezen → landkaart</a:t>
            </a:r>
          </a:p>
        </p:txBody>
      </p:sp>
      <p:sp>
        <p:nvSpPr>
          <p:cNvPr id="4" name="Rounded Rectangle 3"/>
          <p:cNvSpPr/>
          <p:nvPr/>
        </p:nvSpPr>
        <p:spPr>
          <a:xfrm>
            <a:off x="566928" y="1600200"/>
            <a:ext cx="3502152" cy="1691640"/>
          </a:xfrm>
          <a:prstGeom prst="roundRect">
            <a:avLst>
              <a:gd name="adj" fmla="val 6000"/>
            </a:avLst>
          </a:prstGeom>
          <a:solidFill>
            <a:srgbClr val="FFFFFF"/>
          </a:solidFill>
          <a:ln w="12700">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lstStyle/>
          <a:p>
            <a:pPr algn="l">
              <a:spcBef>
                <a:spcPts val="0"/>
              </a:spcBef>
              <a:spcAft>
                <a:spcPts val="400"/>
              </a:spcAft>
            </a:pPr>
            <a:r>
              <a:rPr sz="1400" b="1" i="0">
                <a:solidFill>
                  <a:srgbClr val="1A1A1A"/>
                </a:solidFill>
                <a:latin typeface="Calibri"/>
              </a:rPr>
              <a:t>1 · Opruimen</a:t>
            </a:r>
          </a:p>
          <a:p>
            <a:pPr algn="l">
              <a:lnSpc>
                <a:spcPct val="115000"/>
              </a:lnSpc>
              <a:spcBef>
                <a:spcPts val="0"/>
              </a:spcBef>
              <a:spcAft>
                <a:spcPts val="0"/>
              </a:spcAft>
            </a:pPr>
            <a:r>
              <a:rPr sz="1250" b="0" i="0">
                <a:solidFill>
                  <a:srgbClr val="3F3F46"/>
                </a:solidFill>
                <a:latin typeface="Calibri"/>
              </a:rPr>
              <a:t>Inlezen, dubbelingen samenvoegen, en documenten buiten de vraag eruit: doorstuurmails, agendaverzoeken, dubbelingen.</a:t>
            </a:r>
          </a:p>
        </p:txBody>
      </p:sp>
      <p:sp>
        <p:nvSpPr>
          <p:cNvPr id="5" name="Rounded Rectangle 4"/>
          <p:cNvSpPr/>
          <p:nvPr/>
        </p:nvSpPr>
        <p:spPr>
          <a:xfrm>
            <a:off x="4343400" y="1600200"/>
            <a:ext cx="3502152" cy="1691640"/>
          </a:xfrm>
          <a:prstGeom prst="roundRect">
            <a:avLst>
              <a:gd name="adj" fmla="val 6000"/>
            </a:avLst>
          </a:prstGeom>
          <a:solidFill>
            <a:srgbClr val="E9EEFE"/>
          </a:solidFill>
          <a:ln w="12700">
            <a:solidFill>
              <a:srgbClr val="4376FC"/>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lstStyle/>
          <a:p>
            <a:pPr algn="l">
              <a:spcBef>
                <a:spcPts val="0"/>
              </a:spcBef>
              <a:spcAft>
                <a:spcPts val="400"/>
              </a:spcAft>
            </a:pPr>
            <a:r>
              <a:rPr sz="1400" b="1" i="0">
                <a:solidFill>
                  <a:srgbClr val="1A1A1A"/>
                </a:solidFill>
                <a:latin typeface="Calibri"/>
              </a:rPr>
              <a:t>2 · Kiezen</a:t>
            </a:r>
          </a:p>
          <a:p>
            <a:pPr algn="l">
              <a:lnSpc>
                <a:spcPct val="115000"/>
              </a:lnSpc>
              <a:spcBef>
                <a:spcPts val="0"/>
              </a:spcBef>
              <a:spcAft>
                <a:spcPts val="0"/>
              </a:spcAft>
            </a:pPr>
            <a:r>
              <a:rPr sz="1250" b="0" i="0">
                <a:solidFill>
                  <a:srgbClr val="3F3F46"/>
                </a:solidFill>
                <a:latin typeface="Calibri"/>
              </a:rPr>
              <a:t>Wat overblijft op volgorde van belang voor de vraag — en de ongeveer honderd belangrijkste overhouden.</a:t>
            </a:r>
          </a:p>
        </p:txBody>
      </p:sp>
      <p:sp>
        <p:nvSpPr>
          <p:cNvPr id="6" name="Rounded Rectangle 5"/>
          <p:cNvSpPr/>
          <p:nvPr/>
        </p:nvSpPr>
        <p:spPr>
          <a:xfrm>
            <a:off x="8119871" y="1600200"/>
            <a:ext cx="3502152" cy="1691640"/>
          </a:xfrm>
          <a:prstGeom prst="roundRect">
            <a:avLst>
              <a:gd name="adj" fmla="val 6000"/>
            </a:avLst>
          </a:prstGeom>
          <a:solidFill>
            <a:srgbClr val="FFFFFF"/>
          </a:solidFill>
          <a:ln w="12700">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lstStyle/>
          <a:p>
            <a:pPr algn="l">
              <a:spcBef>
                <a:spcPts val="0"/>
              </a:spcBef>
              <a:spcAft>
                <a:spcPts val="400"/>
              </a:spcAft>
            </a:pPr>
            <a:r>
              <a:rPr sz="1400" b="1" i="0">
                <a:solidFill>
                  <a:srgbClr val="1A1A1A"/>
                </a:solidFill>
                <a:latin typeface="Calibri"/>
              </a:rPr>
              <a:t>3 · Landkaart</a:t>
            </a:r>
          </a:p>
          <a:p>
            <a:pPr algn="l">
              <a:lnSpc>
                <a:spcPct val="115000"/>
              </a:lnSpc>
              <a:spcBef>
                <a:spcPts val="0"/>
              </a:spcBef>
              <a:spcAft>
                <a:spcPts val="0"/>
              </a:spcAft>
            </a:pPr>
            <a:r>
              <a:rPr sz="1250" b="0" i="0">
                <a:solidFill>
                  <a:srgbClr val="3F3F46"/>
                </a:solidFill>
                <a:latin typeface="Calibri"/>
              </a:rPr>
              <a:t>Een overzicht van de onderwerpen in het dossier — ook bruikbaar als er nog geen zoekvraag is.</a:t>
            </a:r>
          </a:p>
        </p:txBody>
      </p:sp>
      <p:sp>
        <p:nvSpPr>
          <p:cNvPr id="7" name="Rounded Rectangle 6"/>
          <p:cNvSpPr/>
          <p:nvPr/>
        </p:nvSpPr>
        <p:spPr>
          <a:xfrm>
            <a:off x="2136495" y="3794760"/>
            <a:ext cx="1554480" cy="868680"/>
          </a:xfrm>
          <a:prstGeom prst="roundRect">
            <a:avLst/>
          </a:prstGeom>
          <a:solidFill>
            <a:srgbClr val="FFFFFF"/>
          </a:solidFill>
          <a:ln w="12700">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1A1A1A"/>
                </a:solidFill>
                <a:latin typeface="Calibri"/>
              </a:rPr>
              <a:t>1000</a:t>
            </a:r>
          </a:p>
          <a:p>
            <a:pPr algn="ctr">
              <a:spcBef>
                <a:spcPts val="0"/>
              </a:spcBef>
              <a:spcAft>
                <a:spcPts val="0"/>
              </a:spcAft>
            </a:pPr>
            <a:r>
              <a:rPr sz="900" b="0" i="0">
                <a:solidFill>
                  <a:srgbClr val="71717A"/>
                </a:solidFill>
                <a:latin typeface="Calibri"/>
              </a:rPr>
              <a:t>INGELEZEN</a:t>
            </a:r>
          </a:p>
        </p:txBody>
      </p:sp>
      <p:sp>
        <p:nvSpPr>
          <p:cNvPr id="8" name="TextBox 7"/>
          <p:cNvSpPr txBox="1"/>
          <p:nvPr/>
        </p:nvSpPr>
        <p:spPr>
          <a:xfrm>
            <a:off x="3690975" y="3794760"/>
            <a:ext cx="566928" cy="868680"/>
          </a:xfrm>
          <a:prstGeom prst="rect">
            <a:avLst/>
          </a:prstGeom>
          <a:noFill/>
        </p:spPr>
        <p:txBody>
          <a:bodyPr wrap="square" anchor="ctr" lIns="0" rIns="0" tIns="0" bIns="0">
            <a:spAutoFit/>
          </a:bodyPr>
          <a:lstStyle/>
          <a:p>
            <a:pPr algn="ctr">
              <a:spcBef>
                <a:spcPts val="0"/>
              </a:spcBef>
              <a:spcAft>
                <a:spcPts val="0"/>
              </a:spcAft>
            </a:pPr>
            <a:r>
              <a:rPr sz="1800" b="0" i="0">
                <a:solidFill>
                  <a:srgbClr val="A1A1AA"/>
                </a:solidFill>
                <a:latin typeface="Calibri"/>
              </a:rPr>
              <a:t>→</a:t>
            </a:r>
          </a:p>
        </p:txBody>
      </p:sp>
      <p:sp>
        <p:nvSpPr>
          <p:cNvPr id="9" name="Rounded Rectangle 8"/>
          <p:cNvSpPr/>
          <p:nvPr/>
        </p:nvSpPr>
        <p:spPr>
          <a:xfrm>
            <a:off x="4257903" y="3794760"/>
            <a:ext cx="1554480" cy="868680"/>
          </a:xfrm>
          <a:prstGeom prst="roundRect">
            <a:avLst/>
          </a:prstGeom>
          <a:solidFill>
            <a:srgbClr val="FFFFFF"/>
          </a:solidFill>
          <a:ln w="12700">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1A1A1A"/>
                </a:solidFill>
                <a:latin typeface="Calibri"/>
              </a:rPr>
              <a:t>1000</a:t>
            </a:r>
          </a:p>
          <a:p>
            <a:pPr algn="ctr">
              <a:spcBef>
                <a:spcPts val="0"/>
              </a:spcBef>
              <a:spcAft>
                <a:spcPts val="0"/>
              </a:spcAft>
            </a:pPr>
            <a:r>
              <a:rPr sz="900" b="0" i="0">
                <a:solidFill>
                  <a:srgbClr val="71717A"/>
                </a:solidFill>
                <a:latin typeface="Calibri"/>
              </a:rPr>
              <a:t>LEESBAAR</a:t>
            </a:r>
          </a:p>
        </p:txBody>
      </p:sp>
      <p:sp>
        <p:nvSpPr>
          <p:cNvPr id="10" name="TextBox 9"/>
          <p:cNvSpPr txBox="1"/>
          <p:nvPr/>
        </p:nvSpPr>
        <p:spPr>
          <a:xfrm>
            <a:off x="5812383" y="3794760"/>
            <a:ext cx="566928" cy="868680"/>
          </a:xfrm>
          <a:prstGeom prst="rect">
            <a:avLst/>
          </a:prstGeom>
          <a:noFill/>
        </p:spPr>
        <p:txBody>
          <a:bodyPr wrap="square" anchor="ctr" lIns="0" rIns="0" tIns="0" bIns="0">
            <a:spAutoFit/>
          </a:bodyPr>
          <a:lstStyle/>
          <a:p>
            <a:pPr algn="ctr">
              <a:spcBef>
                <a:spcPts val="0"/>
              </a:spcBef>
              <a:spcAft>
                <a:spcPts val="0"/>
              </a:spcAft>
            </a:pPr>
            <a:r>
              <a:rPr sz="1800" b="0" i="0">
                <a:solidFill>
                  <a:srgbClr val="A1A1AA"/>
                </a:solidFill>
                <a:latin typeface="Calibri"/>
              </a:rPr>
              <a:t>→</a:t>
            </a:r>
          </a:p>
        </p:txBody>
      </p:sp>
      <p:sp>
        <p:nvSpPr>
          <p:cNvPr id="11" name="Rounded Rectangle 10"/>
          <p:cNvSpPr/>
          <p:nvPr/>
        </p:nvSpPr>
        <p:spPr>
          <a:xfrm>
            <a:off x="6379311" y="3794760"/>
            <a:ext cx="1554480" cy="868680"/>
          </a:xfrm>
          <a:prstGeom prst="roundRect">
            <a:avLst/>
          </a:prstGeom>
          <a:solidFill>
            <a:srgbClr val="FFFFFF"/>
          </a:solidFill>
          <a:ln w="12700">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1A1A1A"/>
                </a:solidFill>
                <a:latin typeface="Calibri"/>
              </a:rPr>
              <a:t>888</a:t>
            </a:r>
          </a:p>
          <a:p>
            <a:pPr algn="ctr">
              <a:spcBef>
                <a:spcPts val="0"/>
              </a:spcBef>
              <a:spcAft>
                <a:spcPts val="0"/>
              </a:spcAft>
            </a:pPr>
            <a:r>
              <a:rPr sz="900" b="0" i="0">
                <a:solidFill>
                  <a:srgbClr val="71717A"/>
                </a:solidFill>
                <a:latin typeface="Calibri"/>
              </a:rPr>
              <a:t>BINNEN DE VRAAG</a:t>
            </a:r>
          </a:p>
        </p:txBody>
      </p:sp>
      <p:sp>
        <p:nvSpPr>
          <p:cNvPr id="12" name="TextBox 11"/>
          <p:cNvSpPr txBox="1"/>
          <p:nvPr/>
        </p:nvSpPr>
        <p:spPr>
          <a:xfrm>
            <a:off x="7933791" y="3794760"/>
            <a:ext cx="566928" cy="868680"/>
          </a:xfrm>
          <a:prstGeom prst="rect">
            <a:avLst/>
          </a:prstGeom>
          <a:noFill/>
        </p:spPr>
        <p:txBody>
          <a:bodyPr wrap="square" anchor="ctr" lIns="0" rIns="0" tIns="0" bIns="0">
            <a:spAutoFit/>
          </a:bodyPr>
          <a:lstStyle/>
          <a:p>
            <a:pPr algn="ctr">
              <a:spcBef>
                <a:spcPts val="0"/>
              </a:spcBef>
              <a:spcAft>
                <a:spcPts val="0"/>
              </a:spcAft>
            </a:pPr>
            <a:r>
              <a:rPr sz="1800" b="0" i="0">
                <a:solidFill>
                  <a:srgbClr val="A1A1AA"/>
                </a:solidFill>
                <a:latin typeface="Calibri"/>
              </a:rPr>
              <a:t>→</a:t>
            </a:r>
          </a:p>
        </p:txBody>
      </p:sp>
      <p:sp>
        <p:nvSpPr>
          <p:cNvPr id="13" name="Rounded Rectangle 12"/>
          <p:cNvSpPr/>
          <p:nvPr/>
        </p:nvSpPr>
        <p:spPr>
          <a:xfrm>
            <a:off x="8500719" y="3794760"/>
            <a:ext cx="1554480" cy="868680"/>
          </a:xfrm>
          <a:prstGeom prst="roundRect">
            <a:avLst/>
          </a:prstGeom>
          <a:solidFill>
            <a:srgbClr val="E9EEFE"/>
          </a:solidFill>
          <a:ln w="12700">
            <a:solidFill>
              <a:srgbClr val="4376F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1A1A1A"/>
                </a:solidFill>
                <a:latin typeface="Calibri"/>
              </a:rPr>
              <a:t>100</a:t>
            </a:r>
          </a:p>
          <a:p>
            <a:pPr algn="ctr">
              <a:spcBef>
                <a:spcPts val="0"/>
              </a:spcBef>
              <a:spcAft>
                <a:spcPts val="0"/>
              </a:spcAft>
            </a:pPr>
            <a:r>
              <a:rPr sz="900" b="0" i="0">
                <a:solidFill>
                  <a:srgbClr val="71717A"/>
                </a:solidFill>
                <a:latin typeface="Calibri"/>
              </a:rPr>
              <a:t>GEKOZEN</a:t>
            </a:r>
          </a:p>
        </p:txBody>
      </p:sp>
      <p:sp>
        <p:nvSpPr>
          <p:cNvPr id="14" name="TextBox 13"/>
          <p:cNvSpPr txBox="1"/>
          <p:nvPr/>
        </p:nvSpPr>
        <p:spPr>
          <a:xfrm>
            <a:off x="566928" y="5029200"/>
            <a:ext cx="11064240" cy="1097280"/>
          </a:xfrm>
          <a:prstGeom prst="rect">
            <a:avLst/>
          </a:prstGeom>
          <a:noFill/>
        </p:spPr>
        <p:txBody>
          <a:bodyPr wrap="square" anchor="t" lIns="0" rIns="0" tIns="0" bIns="0">
            <a:spAutoFit/>
          </a:bodyPr>
          <a:lstStyle/>
          <a:p>
            <a:pPr algn="l">
              <a:lnSpc>
                <a:spcPct val="145000"/>
              </a:lnSpc>
              <a:spcBef>
                <a:spcPts val="0"/>
              </a:spcBef>
              <a:spcAft>
                <a:spcPts val="0"/>
              </a:spcAft>
            </a:pPr>
            <a:r>
              <a:rPr sz="1250" b="0" i="0">
                <a:solidFill>
                  <a:srgbClr val="71717A"/>
                </a:solidFill>
                <a:latin typeface="Calibri"/>
              </a:rPr>
              <a:t>Van 1000 documenten viel er niets af op leesbaarheid (0); 112 vielen buiten de vraag — allemaal dubbelingen — en 888 bleven over. Daarvan kozen we de 100 die het dichtst bij de vraag liggen. Waar je precies afkapt is een keuze, geen natuurwet.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64240" cy="365760"/>
          </a:xfrm>
          <a:prstGeom prst="rect">
            <a:avLst/>
          </a:prstGeom>
          <a:noFill/>
        </p:spPr>
        <p:txBody>
          <a:bodyPr wrap="square" anchor="t" lIns="0" rIns="0" tIns="0" bIns="0">
            <a:spAutoFit/>
          </a:bodyPr>
          <a:lstStyle/>
          <a:p>
            <a:pPr algn="l">
              <a:spcBef>
                <a:spcPts val="0"/>
              </a:spcBef>
              <a:spcAft>
                <a:spcPts val="0"/>
              </a:spcAft>
            </a:pPr>
            <a:r>
              <a:rPr sz="1100" b="1" i="0">
                <a:solidFill>
                  <a:srgbClr val="71717A"/>
                </a:solidFill>
                <a:latin typeface="Calibri"/>
              </a:rPr>
              <a:t>HET RAPPORT · DE ECHTE OUTPUT</a:t>
            </a:r>
          </a:p>
        </p:txBody>
      </p:sp>
      <p:sp>
        <p:nvSpPr>
          <p:cNvPr id="3" name="TextBox 2"/>
          <p:cNvSpPr txBox="1"/>
          <p:nvPr/>
        </p:nvSpPr>
        <p:spPr>
          <a:xfrm>
            <a:off x="566928" y="868680"/>
            <a:ext cx="11064240" cy="640080"/>
          </a:xfrm>
          <a:prstGeom prst="rect">
            <a:avLst/>
          </a:prstGeom>
          <a:noFill/>
        </p:spPr>
        <p:txBody>
          <a:bodyPr wrap="square" anchor="t" lIns="0" rIns="0" tIns="0" bIns="0">
            <a:spAutoFit/>
          </a:bodyPr>
          <a:lstStyle/>
          <a:p>
            <a:pPr algn="l">
              <a:spcBef>
                <a:spcPts val="0"/>
              </a:spcBef>
              <a:spcAft>
                <a:spcPts val="0"/>
              </a:spcAft>
            </a:pPr>
            <a:r>
              <a:rPr sz="2400" b="1" i="0">
                <a:solidFill>
                  <a:srgbClr val="1A1A1A"/>
                </a:solidFill>
                <a:latin typeface="Calibri"/>
              </a:rPr>
              <a:t>Wat de tool oplevert — echt, geen plaatje.</a:t>
            </a:r>
          </a:p>
        </p:txBody>
      </p:sp>
      <p:pic>
        <p:nvPicPr>
          <p:cNvPr id="4" name="Picture 3" descr="converge.png"/>
          <p:cNvPicPr>
            <a:picLocks noChangeAspect="1"/>
          </p:cNvPicPr>
          <p:nvPr/>
        </p:nvPicPr>
        <p:blipFill>
          <a:blip r:embed="rId2"/>
          <a:stretch>
            <a:fillRect/>
          </a:stretch>
        </p:blipFill>
        <p:spPr>
          <a:xfrm>
            <a:off x="1509118" y="1554480"/>
            <a:ext cx="9179858" cy="3657600"/>
          </a:xfrm>
          <a:prstGeom prst="rect">
            <a:avLst/>
          </a:prstGeom>
        </p:spPr>
      </p:pic>
      <p:sp>
        <p:nvSpPr>
          <p:cNvPr id="5" name="TextBox 4"/>
          <p:cNvSpPr txBox="1"/>
          <p:nvPr/>
        </p:nvSpPr>
        <p:spPr>
          <a:xfrm>
            <a:off x="566928" y="5349240"/>
            <a:ext cx="11064240" cy="365760"/>
          </a:xfrm>
          <a:prstGeom prst="rect">
            <a:avLst/>
          </a:prstGeom>
          <a:noFill/>
        </p:spPr>
        <p:txBody>
          <a:bodyPr wrap="square" anchor="t" lIns="0" rIns="0" tIns="0" bIns="0">
            <a:spAutoFit/>
          </a:bodyPr>
          <a:lstStyle/>
          <a:p>
            <a:pPr algn="l">
              <a:spcBef>
                <a:spcPts val="0"/>
              </a:spcBef>
              <a:spcAft>
                <a:spcPts val="0"/>
              </a:spcAft>
            </a:pPr>
            <a:r>
              <a:rPr sz="1250" b="0" i="0">
                <a:solidFill>
                  <a:srgbClr val="3F3F46"/>
                </a:solidFill>
                <a:latin typeface="Calibri"/>
              </a:rPr>
              <a:t>De top-100, met per document waarom het gekozen is — en wat eruit viel.</a:t>
            </a:r>
            <a:r>
              <a:rPr sz="1100" b="1" i="0">
                <a:solidFill>
                  <a:srgbClr val="2F54D4"/>
                </a:solidFill>
                <a:latin typeface="Calibri"/>
              </a:rPr>
              <a:t>        ↗ embeds/converge-report.html</a:t>
            </a:r>
          </a:p>
        </p:txBody>
      </p:sp>
      <p:sp>
        <p:nvSpPr>
          <p:cNvPr id="6" name="TextBox 5"/>
          <p:cNvSpPr txBox="1"/>
          <p:nvPr/>
        </p:nvSpPr>
        <p:spPr>
          <a:xfrm>
            <a:off x="566928" y="5806440"/>
            <a:ext cx="11064240" cy="365760"/>
          </a:xfrm>
          <a:prstGeom prst="rect">
            <a:avLst/>
          </a:prstGeom>
          <a:noFill/>
        </p:spPr>
        <p:txBody>
          <a:bodyPr wrap="square" anchor="t" lIns="0" rIns="0" tIns="0" bIns="0">
            <a:spAutoFit/>
          </a:bodyPr>
          <a:lstStyle/>
          <a:p>
            <a:pPr algn="l">
              <a:spcBef>
                <a:spcPts val="0"/>
              </a:spcBef>
              <a:spcAft>
                <a:spcPts val="0"/>
              </a:spcAft>
            </a:pPr>
            <a:r>
              <a:rPr sz="1100" b="0" i="0">
                <a:solidFill>
                  <a:srgbClr val="71717A"/>
                </a:solidFill>
                <a:latin typeface="Calibri"/>
              </a:rPr>
              <a:t>Getoond: 86 (basis). Geleverd: 100 (zelfde volgorde, doorgesneden).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64240" cy="365760"/>
          </a:xfrm>
          <a:prstGeom prst="rect">
            <a:avLst/>
          </a:prstGeom>
          <a:noFill/>
        </p:spPr>
        <p:txBody>
          <a:bodyPr wrap="square" anchor="t" lIns="0" rIns="0" tIns="0" bIns="0">
            <a:spAutoFit/>
          </a:bodyPr>
          <a:lstStyle/>
          <a:p>
            <a:pPr algn="l">
              <a:spcBef>
                <a:spcPts val="0"/>
              </a:spcBef>
              <a:spcAft>
                <a:spcPts val="0"/>
              </a:spcAft>
            </a:pPr>
            <a:r>
              <a:rPr sz="1100" b="1" i="0">
                <a:solidFill>
                  <a:srgbClr val="71717A"/>
                </a:solidFill>
                <a:latin typeface="Calibri"/>
              </a:rPr>
              <a:t>BUITEN DE VRAAG + DE ONDERWERPENKAART</a:t>
            </a:r>
          </a:p>
        </p:txBody>
      </p:sp>
      <p:sp>
        <p:nvSpPr>
          <p:cNvPr id="3" name="TextBox 2"/>
          <p:cNvSpPr txBox="1"/>
          <p:nvPr/>
        </p:nvSpPr>
        <p:spPr>
          <a:xfrm>
            <a:off x="566928" y="868680"/>
            <a:ext cx="11064240" cy="640080"/>
          </a:xfrm>
          <a:prstGeom prst="rect">
            <a:avLst/>
          </a:prstGeom>
          <a:noFill/>
        </p:spPr>
        <p:txBody>
          <a:bodyPr wrap="square" anchor="t" lIns="0" rIns="0" tIns="0" bIns="0">
            <a:spAutoFit/>
          </a:bodyPr>
          <a:lstStyle/>
          <a:p>
            <a:pPr algn="l">
              <a:spcBef>
                <a:spcPts val="0"/>
              </a:spcBef>
              <a:spcAft>
                <a:spcPts val="0"/>
              </a:spcAft>
            </a:pPr>
            <a:r>
              <a:rPr sz="2100" b="1" i="0">
                <a:solidFill>
                  <a:srgbClr val="1A1A1A"/>
                </a:solidFill>
                <a:latin typeface="Calibri"/>
              </a:rPr>
              <a:t>Buiten de vraag is een spelregel, geen oordeel over belang.</a:t>
            </a:r>
          </a:p>
        </p:txBody>
      </p:sp>
      <p:sp>
        <p:nvSpPr>
          <p:cNvPr id="4" name="TextBox 3"/>
          <p:cNvSpPr txBox="1"/>
          <p:nvPr/>
        </p:nvSpPr>
        <p:spPr>
          <a:xfrm>
            <a:off x="566928" y="1463040"/>
            <a:ext cx="11064240" cy="457200"/>
          </a:xfrm>
          <a:prstGeom prst="rect">
            <a:avLst/>
          </a:prstGeom>
          <a:noFill/>
        </p:spPr>
        <p:txBody>
          <a:bodyPr wrap="square" anchor="t" lIns="0" rIns="0" tIns="0" bIns="0">
            <a:spAutoFit/>
          </a:bodyPr>
          <a:lstStyle/>
          <a:p>
            <a:pPr algn="l">
              <a:lnSpc>
                <a:spcPct val="135000"/>
              </a:lnSpc>
              <a:spcBef>
                <a:spcPts val="0"/>
              </a:spcBef>
              <a:spcAft>
                <a:spcPts val="0"/>
              </a:spcAft>
            </a:pPr>
            <a:r>
              <a:rPr sz="1400" b="0" i="0">
                <a:solidFill>
                  <a:srgbClr val="3F3F46"/>
                </a:solidFill>
                <a:latin typeface="Calibri"/>
              </a:rPr>
              <a:t>Wat eruit gaat, gaat eruit om een </a:t>
            </a:r>
            <a:r>
              <a:rPr sz="1400" b="1" i="0">
                <a:solidFill>
                  <a:srgbClr val="1A1A1A"/>
                </a:solidFill>
                <a:latin typeface="Calibri"/>
              </a:rPr>
              <a:t>duidelijke reden</a:t>
            </a:r>
            <a:r>
              <a:rPr sz="1400" b="0" i="0">
                <a:solidFill>
                  <a:srgbClr val="3F3F46"/>
                </a:solidFill>
                <a:latin typeface="Calibri"/>
              </a:rPr>
              <a:t> — en dat is altijd terug te zien:</a:t>
            </a:r>
          </a:p>
        </p:txBody>
      </p:sp>
      <p:sp>
        <p:nvSpPr>
          <p:cNvPr id="5" name="Rounded Rectangle 4"/>
          <p:cNvSpPr/>
          <p:nvPr/>
        </p:nvSpPr>
        <p:spPr>
          <a:xfrm>
            <a:off x="566928" y="1965960"/>
            <a:ext cx="1196035" cy="310896"/>
          </a:xfrm>
          <a:prstGeom prst="roundRect">
            <a:avLst>
              <a:gd name="adj" fmla="val 50000"/>
            </a:avLst>
          </a:prstGeom>
          <a:solidFill>
            <a:srgbClr val="F4F4F5"/>
          </a:solidFill>
          <a:ln w="9525">
            <a:solidFill>
              <a:srgbClr val="A1A1A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doorstuurmails</a:t>
            </a:r>
          </a:p>
        </p:txBody>
      </p:sp>
      <p:sp>
        <p:nvSpPr>
          <p:cNvPr id="6" name="Rounded Rectangle 5"/>
          <p:cNvSpPr/>
          <p:nvPr/>
        </p:nvSpPr>
        <p:spPr>
          <a:xfrm>
            <a:off x="1927555" y="1965960"/>
            <a:ext cx="1271016" cy="310896"/>
          </a:xfrm>
          <a:prstGeom prst="roundRect">
            <a:avLst>
              <a:gd name="adj" fmla="val 50000"/>
            </a:avLst>
          </a:prstGeom>
          <a:solidFill>
            <a:srgbClr val="F4F4F5"/>
          </a:solidFill>
          <a:ln w="9525">
            <a:solidFill>
              <a:srgbClr val="A1A1A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agendaverzoeken</a:t>
            </a:r>
          </a:p>
        </p:txBody>
      </p:sp>
      <p:sp>
        <p:nvSpPr>
          <p:cNvPr id="7" name="Rounded Rectangle 6"/>
          <p:cNvSpPr/>
          <p:nvPr/>
        </p:nvSpPr>
        <p:spPr>
          <a:xfrm>
            <a:off x="3363163" y="1965960"/>
            <a:ext cx="971092" cy="310896"/>
          </a:xfrm>
          <a:prstGeom prst="roundRect">
            <a:avLst>
              <a:gd name="adj" fmla="val 50000"/>
            </a:avLst>
          </a:prstGeom>
          <a:solidFill>
            <a:srgbClr val="F4F4F5"/>
          </a:solidFill>
          <a:ln w="9525">
            <a:solidFill>
              <a:srgbClr val="A1A1A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dubbelingen</a:t>
            </a:r>
          </a:p>
        </p:txBody>
      </p:sp>
      <p:sp>
        <p:nvSpPr>
          <p:cNvPr id="8" name="Rounded Rectangle 7"/>
          <p:cNvSpPr/>
          <p:nvPr/>
        </p:nvSpPr>
        <p:spPr>
          <a:xfrm>
            <a:off x="4498848" y="1965960"/>
            <a:ext cx="1271016" cy="310896"/>
          </a:xfrm>
          <a:prstGeom prst="roundRect">
            <a:avLst>
              <a:gd name="adj" fmla="val 50000"/>
            </a:avLst>
          </a:prstGeom>
          <a:solidFill>
            <a:srgbClr val="F4F4F5"/>
          </a:solidFill>
          <a:ln w="9525">
            <a:solidFill>
              <a:srgbClr val="A1A1A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procesmeldingen</a:t>
            </a:r>
          </a:p>
        </p:txBody>
      </p:sp>
      <p:sp>
        <p:nvSpPr>
          <p:cNvPr id="9" name="Rounded Rectangle 8"/>
          <p:cNvSpPr/>
          <p:nvPr/>
        </p:nvSpPr>
        <p:spPr>
          <a:xfrm>
            <a:off x="5934456" y="1965960"/>
            <a:ext cx="2170785" cy="310896"/>
          </a:xfrm>
          <a:prstGeom prst="roundRect">
            <a:avLst>
              <a:gd name="adj" fmla="val 50000"/>
            </a:avLst>
          </a:prstGeom>
          <a:solidFill>
            <a:srgbClr val="F4F4F5"/>
          </a:solidFill>
          <a:ln w="9525">
            <a:solidFill>
              <a:srgbClr val="A1A1A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eerdere mails in een thread</a:t>
            </a:r>
          </a:p>
        </p:txBody>
      </p:sp>
      <p:sp>
        <p:nvSpPr>
          <p:cNvPr id="10" name="TextBox 9"/>
          <p:cNvSpPr txBox="1"/>
          <p:nvPr/>
        </p:nvSpPr>
        <p:spPr>
          <a:xfrm>
            <a:off x="566928" y="2514600"/>
            <a:ext cx="11064240" cy="457200"/>
          </a:xfrm>
          <a:prstGeom prst="rect">
            <a:avLst/>
          </a:prstGeom>
          <a:noFill/>
        </p:spPr>
        <p:txBody>
          <a:bodyPr wrap="square" anchor="t" lIns="0" rIns="0" tIns="0" bIns="0">
            <a:spAutoFit/>
          </a:bodyPr>
          <a:lstStyle/>
          <a:p>
            <a:pPr algn="l">
              <a:lnSpc>
                <a:spcPct val="135000"/>
              </a:lnSpc>
              <a:spcBef>
                <a:spcPts val="0"/>
              </a:spcBef>
              <a:spcAft>
                <a:spcPts val="0"/>
              </a:spcAft>
            </a:pPr>
            <a:r>
              <a:rPr sz="1400" b="1" i="0">
                <a:solidFill>
                  <a:srgbClr val="1A1A1A"/>
                </a:solidFill>
                <a:latin typeface="Calibri"/>
              </a:rPr>
              <a:t>Nog geen zoekvraag? </a:t>
            </a:r>
            <a:r>
              <a:rPr sz="1400" b="0" i="0">
                <a:solidFill>
                  <a:srgbClr val="3F3F46"/>
                </a:solidFill>
                <a:latin typeface="Calibri"/>
              </a:rPr>
              <a:t>Dan maakt Zeef eerst een overzicht van alle onderwerpen in het dossier.</a:t>
            </a:r>
          </a:p>
        </p:txBody>
      </p:sp>
      <p:pic>
        <p:nvPicPr>
          <p:cNvPr id="11" name="Picture 10" descr="discover.png"/>
          <p:cNvPicPr>
            <a:picLocks noChangeAspect="1"/>
          </p:cNvPicPr>
          <p:nvPr/>
        </p:nvPicPr>
        <p:blipFill>
          <a:blip r:embed="rId2"/>
          <a:stretch>
            <a:fillRect/>
          </a:stretch>
        </p:blipFill>
        <p:spPr>
          <a:xfrm>
            <a:off x="3480976" y="3108960"/>
            <a:ext cx="5236143" cy="3108960"/>
          </a:xfrm>
          <a:prstGeom prst="rect">
            <a:avLst/>
          </a:prstGeom>
        </p:spPr>
      </p:pic>
      <p:sp>
        <p:nvSpPr>
          <p:cNvPr id="12" name="TextBox 11"/>
          <p:cNvSpPr txBox="1"/>
          <p:nvPr/>
        </p:nvSpPr>
        <p:spPr>
          <a:xfrm>
            <a:off x="566928" y="6309360"/>
            <a:ext cx="11064240" cy="365760"/>
          </a:xfrm>
          <a:prstGeom prst="rect">
            <a:avLst/>
          </a:prstGeom>
          <a:noFill/>
        </p:spPr>
        <p:txBody>
          <a:bodyPr wrap="square" anchor="t" lIns="0" rIns="0" tIns="0" bIns="0">
            <a:spAutoFit/>
          </a:bodyPr>
          <a:lstStyle/>
          <a:p>
            <a:pPr algn="l">
              <a:spcBef>
                <a:spcPts val="0"/>
              </a:spcBef>
              <a:spcAft>
                <a:spcPts val="0"/>
              </a:spcAft>
            </a:pPr>
            <a:r>
              <a:rPr sz="1100" b="0" i="0">
                <a:solidFill>
                  <a:srgbClr val="3F3F46"/>
                </a:solidFill>
                <a:latin typeface="Calibri"/>
              </a:rPr>
              <a:t>Overzicht van de onderwerpen in het dossier.</a:t>
            </a:r>
            <a:r>
              <a:rPr sz="1050" b="1" i="0">
                <a:solidFill>
                  <a:srgbClr val="2F54D4"/>
                </a:solidFill>
                <a:latin typeface="Calibri"/>
              </a:rPr>
              <a:t>        ↗ embeds/discover-report.html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554480"/>
            <a:ext cx="10362895" cy="914400"/>
          </a:xfrm>
          <a:prstGeom prst="rect">
            <a:avLst/>
          </a:prstGeom>
          <a:noFill/>
        </p:spPr>
        <p:txBody>
          <a:bodyPr wrap="square" anchor="t" lIns="0" rIns="0" tIns="0" bIns="0">
            <a:spAutoFit/>
          </a:bodyPr>
          <a:lstStyle/>
          <a:p>
            <a:pPr algn="ctr">
              <a:spcBef>
                <a:spcPts val="0"/>
              </a:spcBef>
              <a:spcAft>
                <a:spcPts val="0"/>
              </a:spcAft>
            </a:pPr>
            <a:r>
              <a:rPr sz="5200" b="1" i="0">
                <a:solidFill>
                  <a:srgbClr val="1A1A1A"/>
                </a:solidFill>
                <a:latin typeface="Calibri"/>
              </a:rPr>
              <a:t>Vragen?</a:t>
            </a:r>
          </a:p>
        </p:txBody>
      </p:sp>
      <p:sp>
        <p:nvSpPr>
          <p:cNvPr id="3" name="TextBox 2"/>
          <p:cNvSpPr txBox="1"/>
          <p:nvPr/>
        </p:nvSpPr>
        <p:spPr>
          <a:xfrm>
            <a:off x="1828800" y="2743200"/>
            <a:ext cx="8534095" cy="548640"/>
          </a:xfrm>
          <a:prstGeom prst="rect">
            <a:avLst/>
          </a:prstGeom>
          <a:noFill/>
        </p:spPr>
        <p:txBody>
          <a:bodyPr wrap="square" anchor="t" lIns="0" rIns="0" tIns="0" bIns="0">
            <a:spAutoFit/>
          </a:bodyPr>
          <a:lstStyle/>
          <a:p>
            <a:pPr algn="ctr">
              <a:spcBef>
                <a:spcPts val="0"/>
              </a:spcBef>
              <a:spcAft>
                <a:spcPts val="0"/>
              </a:spcAft>
            </a:pPr>
            <a:r>
              <a:rPr sz="1800" b="0" i="0">
                <a:solidFill>
                  <a:srgbClr val="3F3F46"/>
                </a:solidFill>
                <a:latin typeface="Calibri"/>
              </a:rPr>
              <a:t>Verkenning vandaag — </a:t>
            </a:r>
            <a:r>
              <a:rPr sz="1800" b="1" i="0">
                <a:solidFill>
                  <a:srgbClr val="1A1A1A"/>
                </a:solidFill>
                <a:latin typeface="Calibri"/>
              </a:rPr>
              <a:t>grotere schaal is het pad</a:t>
            </a:r>
            <a:r>
              <a:rPr sz="1800" b="0" i="0">
                <a:solidFill>
                  <a:srgbClr val="3F3F46"/>
                </a:solidFill>
                <a:latin typeface="Calibri"/>
              </a:rPr>
              <a:t>.</a:t>
            </a:r>
          </a:p>
        </p:txBody>
      </p:sp>
      <p:sp>
        <p:nvSpPr>
          <p:cNvPr id="4" name="TextBox 3"/>
          <p:cNvSpPr txBox="1"/>
          <p:nvPr/>
        </p:nvSpPr>
        <p:spPr>
          <a:xfrm>
            <a:off x="1828800" y="3383280"/>
            <a:ext cx="8534095" cy="1097280"/>
          </a:xfrm>
          <a:prstGeom prst="rect">
            <a:avLst/>
          </a:prstGeom>
          <a:noFill/>
        </p:spPr>
        <p:txBody>
          <a:bodyPr wrap="square" anchor="t" lIns="0" rIns="0" tIns="0" bIns="0">
            <a:spAutoFit/>
          </a:bodyPr>
          <a:lstStyle/>
          <a:p>
            <a:pPr algn="ctr">
              <a:lnSpc>
                <a:spcPct val="140000"/>
              </a:lnSpc>
              <a:spcBef>
                <a:spcPts val="0"/>
              </a:spcBef>
              <a:spcAft>
                <a:spcPts val="0"/>
              </a:spcAft>
            </a:pPr>
            <a:r>
              <a:rPr sz="1400" b="0" i="0">
                <a:solidFill>
                  <a:srgbClr val="71717A"/>
                </a:solidFill>
                <a:latin typeface="Calibri"/>
              </a:rPr>
              <a:t>Zeef aan te sluiten op bestaande systemen — </a:t>
            </a:r>
            <a:r>
              <a:rPr sz="1400" b="1" i="0">
                <a:solidFill>
                  <a:srgbClr val="1A1A1A"/>
                </a:solidFill>
                <a:latin typeface="Calibri"/>
              </a:rPr>
              <a:t>DMS en zaaksystemen</a:t>
            </a:r>
            <a:r>
              <a:rPr sz="1400" b="0" i="0">
                <a:solidFill>
                  <a:srgbClr val="71717A"/>
                </a:solidFill>
                <a:latin typeface="Calibri"/>
              </a:rPr>
              <a:t> — en in de lokale variant op </a:t>
            </a:r>
            <a:r>
              <a:rPr sz="1400" b="1" i="0">
                <a:solidFill>
                  <a:srgbClr val="1A1A1A"/>
                </a:solidFill>
                <a:latin typeface="Calibri"/>
              </a:rPr>
              <a:t>Nextcloud</a:t>
            </a:r>
            <a:r>
              <a:rPr sz="1400" b="0" i="0">
                <a:solidFill>
                  <a:srgbClr val="71717A"/>
                </a:solidFill>
                <a:latin typeface="Calibri"/>
              </a:rPr>
              <a:t> en </a:t>
            </a:r>
            <a:r>
              <a:rPr sz="1400" b="1" i="0">
                <a:solidFill>
                  <a:srgbClr val="1A1A1A"/>
                </a:solidFill>
                <a:latin typeface="Calibri"/>
              </a:rPr>
              <a:t>OpenAnonymiser</a:t>
            </a:r>
            <a:r>
              <a:rPr sz="1400" b="0" i="0">
                <a:solidFill>
                  <a:srgbClr val="71717A"/>
                </a:solidFill>
                <a:latin typeface="Calibri"/>
              </a:rPr>
              <a:t> voor de AVG-voorbewerking (contextverrijkend anonimiseren i.p.v. </a:t>
            </a:r>
            <a:r>
              <a:rPr sz="1400" b="1" i="0">
                <a:solidFill>
                  <a:srgbClr val="1A1A1A"/>
                </a:solidFill>
                <a:latin typeface="Calibri"/>
              </a:rPr>
              <a:t>lakken</a:t>
            </a:r>
            <a:r>
              <a:rPr sz="1400" b="0" i="0">
                <a:solidFill>
                  <a:srgbClr val="71717A"/>
                </a:solidFill>
                <a:latin typeface="Calibri"/>
              </a:rPr>
              <a:t>).</a:t>
            </a:r>
          </a:p>
        </p:txBody>
      </p:sp>
      <p:sp>
        <p:nvSpPr>
          <p:cNvPr id="5" name="TextBox 4"/>
          <p:cNvSpPr txBox="1"/>
          <p:nvPr/>
        </p:nvSpPr>
        <p:spPr>
          <a:xfrm>
            <a:off x="1828800" y="4617720"/>
            <a:ext cx="8534095" cy="731520"/>
          </a:xfrm>
          <a:prstGeom prst="rect">
            <a:avLst/>
          </a:prstGeom>
          <a:noFill/>
        </p:spPr>
        <p:txBody>
          <a:bodyPr wrap="square" anchor="t" lIns="0" rIns="0" tIns="0" bIns="0">
            <a:spAutoFit/>
          </a:bodyPr>
          <a:lstStyle/>
          <a:p>
            <a:pPr algn="ctr">
              <a:lnSpc>
                <a:spcPct val="150000"/>
              </a:lnSpc>
              <a:spcBef>
                <a:spcPts val="0"/>
              </a:spcBef>
              <a:spcAft>
                <a:spcPts val="0"/>
              </a:spcAft>
            </a:pPr>
            <a:r>
              <a:rPr sz="1200" b="1" i="0">
                <a:solidFill>
                  <a:srgbClr val="1A1A1A"/>
                </a:solidFill>
                <a:latin typeface="Calibri"/>
              </a:rPr>
              <a:t>Zeef</a:t>
            </a:r>
            <a:r>
              <a:rPr sz="1200" b="0" i="0">
                <a:solidFill>
                  <a:srgbClr val="71717A"/>
                </a:solidFill>
                <a:latin typeface="Calibri"/>
              </a:rPr>
              <a:t> · Conduction  ·  EUPL-1.2</a:t>
            </a:r>
          </a:p>
          <a:p>
            <a:pPr algn="ctr">
              <a:spcBef>
                <a:spcPts val="0"/>
              </a:spcBef>
              <a:spcAft>
                <a:spcPts val="0"/>
              </a:spcAft>
            </a:pPr>
            <a:r>
              <a:rPr sz="1200" b="0" i="0">
                <a:solidFill>
                  <a:srgbClr val="71717A"/>
                </a:solidFill>
                <a:latin typeface="Calibri"/>
              </a:rPr>
              <a:t>mark@conduction.nl</a:t>
            </a:r>
          </a:p>
        </p:txBody>
      </p:sp>
      <p:sp>
        <p:nvSpPr>
          <p:cNvPr id="6" name="Rounded Rectangle 5"/>
          <p:cNvSpPr/>
          <p:nvPr/>
        </p:nvSpPr>
        <p:spPr>
          <a:xfrm>
            <a:off x="3574846" y="5577840"/>
            <a:ext cx="971092" cy="310896"/>
          </a:xfrm>
          <a:prstGeom prst="roundRect">
            <a:avLst>
              <a:gd name="adj" fmla="val 50000"/>
            </a:avLst>
          </a:prstGeom>
          <a:solidFill>
            <a:srgbClr val="FFFFFF"/>
          </a:solidFill>
          <a:ln w="9525">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Open source</a:t>
            </a:r>
          </a:p>
        </p:txBody>
      </p:sp>
      <p:sp>
        <p:nvSpPr>
          <p:cNvPr id="7" name="Rounded Rectangle 6"/>
          <p:cNvSpPr/>
          <p:nvPr/>
        </p:nvSpPr>
        <p:spPr>
          <a:xfrm>
            <a:off x="4710531" y="5577840"/>
            <a:ext cx="1570939" cy="310896"/>
          </a:xfrm>
          <a:prstGeom prst="roundRect">
            <a:avLst>
              <a:gd name="adj" fmla="val 50000"/>
            </a:avLst>
          </a:prstGeom>
          <a:solidFill>
            <a:srgbClr val="FFFFFF"/>
          </a:solidFill>
          <a:ln w="9525">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Soeverein &amp; offline</a:t>
            </a:r>
          </a:p>
        </p:txBody>
      </p:sp>
      <p:sp>
        <p:nvSpPr>
          <p:cNvPr id="8" name="Rounded Rectangle 7"/>
          <p:cNvSpPr/>
          <p:nvPr/>
        </p:nvSpPr>
        <p:spPr>
          <a:xfrm>
            <a:off x="6446062" y="5577840"/>
            <a:ext cx="2170785" cy="310896"/>
          </a:xfrm>
          <a:prstGeom prst="roundRect">
            <a:avLst>
              <a:gd name="adj" fmla="val 50000"/>
            </a:avLst>
          </a:prstGeom>
          <a:solidFill>
            <a:srgbClr val="FFFFFF"/>
          </a:solidFill>
          <a:ln w="9525">
            <a:solidFill>
              <a:srgbClr val="C9C9C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Bef>
                <a:spcPts val="0"/>
              </a:spcBef>
              <a:spcAft>
                <a:spcPts val="0"/>
              </a:spcAft>
            </a:pPr>
            <a:r>
              <a:rPr sz="1050" b="0" i="0">
                <a:solidFill>
                  <a:srgbClr val="3F3F46"/>
                </a:solidFill>
                <a:latin typeface="Calibri"/>
              </a:rPr>
              <a:t>Elke beslissing herleidbaar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